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EE9"/>
    <a:srgbClr val="E9F0E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9" d="100"/>
          <a:sy n="69" d="100"/>
        </p:scale>
        <p:origin x="948" y="4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6578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3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D7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NEWSCRAP  /  VIBE CODING STUDY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13232" y="804672"/>
            <a:ext cx="10771632" cy="0"/>
          </a:xfrm>
          <a:prstGeom prst="line">
            <a:avLst/>
          </a:prstGeom>
          <a:noFill/>
          <a:ln w="10160">
            <a:solidFill>
              <a:srgbClr val="8291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49808" y="1478279"/>
            <a:ext cx="6720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신문을 가장 가볍게 읽는 법</a:t>
            </a:r>
            <a:r>
              <a:rPr lang="en-US" altLang="ko-KR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8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Newscrap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768096" y="3529584"/>
            <a:ext cx="658368" cy="73152"/>
          </a:xfrm>
          <a:prstGeom prst="rect">
            <a:avLst/>
          </a:prstGeom>
          <a:solidFill>
            <a:srgbClr val="D49373"/>
          </a:solidFill>
          <a:ln w="12700">
            <a:solidFill>
              <a:srgbClr val="D493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68096" y="385876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 err="1">
                <a:solidFill>
                  <a:srgbClr val="E0E5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교수님의</a:t>
            </a:r>
            <a:r>
              <a:rPr lang="en-US" sz="1500" dirty="0">
                <a:solidFill>
                  <a:srgbClr val="E0E5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E0E5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신문</a:t>
            </a:r>
            <a:r>
              <a:rPr lang="ko-KR" altLang="en-US" sz="1500" dirty="0">
                <a:solidFill>
                  <a:srgbClr val="E0E5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</a:t>
            </a:r>
            <a:r>
              <a:rPr lang="en-US" sz="1500" dirty="0">
                <a:solidFill>
                  <a:srgbClr val="E0E5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과제에서 시작한 </a:t>
            </a:r>
            <a:r>
              <a:rPr lang="en-US" sz="1500" dirty="0" err="1">
                <a:solidFill>
                  <a:srgbClr val="E0E5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바이브코딩</a:t>
            </a:r>
            <a:r>
              <a:rPr lang="en-US" sz="1500" dirty="0">
                <a:solidFill>
                  <a:srgbClr val="E0E5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500" dirty="0">
                <a:solidFill>
                  <a:srgbClr val="E0E5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8096" y="61081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D7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— 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0" y="610819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7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BADA 10</a:t>
            </a:r>
            <a:r>
              <a:rPr lang="ko-KR" altLang="en-US" sz="1000" dirty="0">
                <a:solidFill>
                  <a:srgbClr val="D7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 </a:t>
            </a:r>
            <a:r>
              <a:rPr lang="en-US" altLang="ko-KR" sz="1000" dirty="0">
                <a:solidFill>
                  <a:srgbClr val="D7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en-US" sz="1000" dirty="0">
                <a:solidFill>
                  <a:srgbClr val="D7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2023230003 </a:t>
            </a:r>
            <a:r>
              <a:rPr lang="ko-KR" altLang="en-US" sz="1000" dirty="0">
                <a:solidFill>
                  <a:srgbClr val="D7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김연수</a:t>
            </a:r>
            <a:endParaRPr lang="en-US" sz="100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DFBCC47F-D2C7-53AD-F97F-179398CFB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109" y="1556157"/>
            <a:ext cx="3640795" cy="38778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F73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NEWSCRAP  /  BUILD NOTES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321040" y="320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아이디어 계기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58368" y="667512"/>
            <a:ext cx="10881360" cy="0"/>
          </a:xfrm>
          <a:prstGeom prst="line">
            <a:avLst/>
          </a:prstGeom>
          <a:noFill/>
          <a:ln w="10160">
            <a:solidFill>
              <a:srgbClr val="D9DD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13232" y="896112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ko-KR" sz="2800" b="1" dirty="0"/>
              <a:t>신문은 읽고 싶은데, 매일 완독은 어렵다</a:t>
            </a:r>
            <a:endParaRPr lang="en-US" sz="2800" b="1" dirty="0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14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</a:t>
            </a:r>
            <a:r>
              <a:rPr lang="en-US" altLang="ko-KR" sz="14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감각을 쌓기 위한 숙제였는데</a:t>
            </a:r>
            <a:r>
              <a:rPr lang="en-US" altLang="ko-KR" sz="14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어느새 쌓이는 건 신문지 쓰레기</a:t>
            </a:r>
            <a:r>
              <a:rPr lang="en-US" altLang="ko-KR" sz="14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….</a:t>
            </a:r>
            <a:r>
              <a:rPr lang="ko-KR" altLang="en-US" sz="14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10160">
            <a:solidFill>
              <a:srgbClr val="D9DD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0" y="65105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F73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/  07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2212848"/>
            <a:ext cx="4846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Text 9"/>
          <p:cNvSpPr/>
          <p:nvPr/>
        </p:nvSpPr>
        <p:spPr>
          <a:xfrm>
            <a:off x="1024128" y="2514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F73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교수님의 과제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" y="285292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경제신문을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끝까지 읽기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24128" y="39044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기사별 PESTI 분류 + </a:t>
            </a:r>
            <a:r>
              <a:rPr lang="en-US" sz="1200" dirty="0" err="1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</a:t>
            </a:r>
            <a:r>
              <a:rPr lang="en-US" sz="12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인사이트</a:t>
            </a:r>
            <a:r>
              <a:rPr lang="en-US" sz="12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altLang="ko-KR" sz="1200" dirty="0">
              <a:solidFill>
                <a:srgbClr val="777E78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65392" y="2212848"/>
            <a:ext cx="4846320" cy="2331720"/>
          </a:xfrm>
          <a:prstGeom prst="rect">
            <a:avLst/>
          </a:prstGeom>
          <a:solidFill>
            <a:srgbClr val="F3E7DF"/>
          </a:solidFill>
          <a:ln w="12700">
            <a:solidFill>
              <a:srgbClr val="E7D4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39712" y="2514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A96D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나의 현실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39712" y="285292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시간이 없어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신문 읽기가 계속 밀림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39712" y="39044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밀린 신문을 몰아 읽고 </a:t>
            </a:r>
            <a:r>
              <a:rPr lang="en-US" sz="1200" dirty="0" err="1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</a:t>
            </a:r>
            <a:r>
              <a:rPr lang="en-US" sz="12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딸깍</a:t>
            </a:r>
            <a:r>
              <a:rPr lang="en-US" sz="12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r>
              <a:rPr lang="en-US" sz="12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-&gt; </a:t>
            </a:r>
            <a:r>
              <a:rPr lang="ko-KR" altLang="en-US" sz="12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머리속에 남는 것 </a:t>
            </a:r>
            <a:r>
              <a:rPr lang="en-US" altLang="ko-KR" sz="12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‘0’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97296" y="3063240"/>
            <a:ext cx="502920" cy="502920"/>
          </a:xfrm>
          <a:prstGeom prst="ellipse">
            <a:avLst/>
          </a:prstGeom>
          <a:solidFill>
            <a:srgbClr val="3F735A"/>
          </a:solidFill>
          <a:ln w="12700">
            <a:solidFill>
              <a:srgbClr val="3F73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797296" y="32180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49808" y="5047488"/>
            <a:ext cx="10661904" cy="749808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024128" y="5314189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293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커다란 신문을 한눈에 요약해서 내 시간을 절약할 순 없을까</a:t>
            </a:r>
            <a:r>
              <a:rPr lang="en-US" altLang="ko-KR" sz="1700" b="1" dirty="0">
                <a:solidFill>
                  <a:srgbClr val="293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7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862F0214-1955-D62A-DCEE-DA0F7F4C68CC}"/>
              </a:ext>
            </a:extLst>
          </p:cNvPr>
          <p:cNvSpPr/>
          <p:nvPr/>
        </p:nvSpPr>
        <p:spPr>
          <a:xfrm>
            <a:off x="1018681" y="41439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PESTI</a:t>
            </a:r>
            <a:r>
              <a:rPr lang="ko-KR" altLang="en-US" sz="12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란</a:t>
            </a:r>
            <a:r>
              <a:rPr lang="en-US" altLang="ko-KR" sz="12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Politic / Economic / Social / Tech / International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F73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NEWSCRAP  /  BUILD NOTES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321040" y="320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아이디어 구체화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58368" y="667512"/>
            <a:ext cx="10881360" cy="0"/>
          </a:xfrm>
          <a:prstGeom prst="line">
            <a:avLst/>
          </a:prstGeom>
          <a:noFill/>
          <a:ln w="10160">
            <a:solidFill>
              <a:srgbClr val="D9DD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13232" y="896112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Manifest</a:t>
            </a:r>
            <a:r>
              <a:rPr lang="ko-KR" altLang="en-US" sz="28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통해</a:t>
            </a:r>
            <a:r>
              <a:rPr lang="en-US" sz="28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아이디어를 제품 기획으로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PRD와 기능명세서를 쓰며 ‘</a:t>
            </a:r>
            <a:r>
              <a:rPr lang="en-US" sz="1300" dirty="0" err="1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</a:t>
            </a:r>
            <a:r>
              <a:rPr 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r>
              <a:rPr 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r>
              <a:rPr 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’에서 ‘관심 이슈를 </a:t>
            </a:r>
            <a:r>
              <a:rPr lang="en-US" sz="1300" dirty="0" err="1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쌓고</a:t>
            </a:r>
            <a:r>
              <a:rPr 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</a:t>
            </a:r>
            <a:r>
              <a:rPr lang="ko-KR" alt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나만의 스크랩북</a:t>
            </a:r>
            <a:r>
              <a:rPr 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r>
              <a:rPr lang="ko-KR" alt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</a:t>
            </a:r>
            <a:r>
              <a:rPr 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sz="1300" dirty="0" err="1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10160">
            <a:solidFill>
              <a:srgbClr val="D9DD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76656" y="653796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신문, 더 넓은 시선으로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058400" y="65105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F73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/  07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2331720"/>
            <a:ext cx="312724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50976" y="254203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D493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50976" y="29260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50976" y="3502152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누구의 어떤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불편을 풀까?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95928" y="306324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F73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70832" y="2331720"/>
            <a:ext cx="312724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0" y="254203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D493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9260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기능명세서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572000" y="3502152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어떤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순서로 쓸까?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16952" y="306324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F73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991856" y="2331720"/>
            <a:ext cx="3127248" cy="1965960"/>
          </a:xfrm>
          <a:prstGeom prst="rect">
            <a:avLst/>
          </a:prstGeom>
          <a:solidFill>
            <a:srgbClr val="E8EEE9"/>
          </a:solidFill>
          <a:ln w="12700">
            <a:solidFill>
              <a:srgbClr val="C9D7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193024" y="254203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D493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93024" y="29260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방향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193024" y="3502152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무엇을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작동시킬까?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86384" y="5193792"/>
            <a:ext cx="23957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96112" y="5330952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PESTI </a:t>
            </a:r>
            <a:r>
              <a:rPr lang="en-US" sz="1000" dirty="0" err="1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</a:t>
            </a:r>
            <a:r>
              <a:rPr lang="ko-KR" altLang="en-US" sz="1000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 분류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93008" y="5193792"/>
            <a:ext cx="23957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602736" y="5330952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</a:t>
            </a:r>
            <a:r>
              <a:rPr lang="en-US" sz="1000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</a:t>
            </a:r>
            <a:r>
              <a:rPr lang="en-US" sz="1000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00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99632" y="5193792"/>
            <a:ext cx="2395728" cy="475488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309360" y="5330952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폴더별</a:t>
            </a:r>
            <a:r>
              <a:rPr lang="en-US" sz="10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</a:t>
            </a:r>
            <a:r>
              <a:rPr lang="en-US" sz="1000" b="1" dirty="0" err="1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</a:t>
            </a:r>
            <a:r>
              <a:rPr lang="en-US" sz="10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00" b="1" dirty="0" err="1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트래킹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906256" y="5193792"/>
            <a:ext cx="23957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015984" y="5330952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종이신문을 스크랩한 듯한 디자인</a:t>
            </a:r>
            <a:endParaRPr lang="en-US" sz="1000" dirty="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CDA22F24-2770-15FD-E283-844B477DA430}"/>
              </a:ext>
            </a:extLst>
          </p:cNvPr>
          <p:cNvSpPr/>
          <p:nvPr/>
        </p:nvSpPr>
        <p:spPr>
          <a:xfrm>
            <a:off x="786384" y="4853064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3F73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넣고 싶은 기능들을 구체화하며</a:t>
            </a:r>
            <a:r>
              <a:rPr lang="en-US" altLang="ko-KR" sz="1100" b="1" dirty="0">
                <a:solidFill>
                  <a:srgbClr val="3F73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00" b="1" dirty="0">
                <a:solidFill>
                  <a:srgbClr val="3F73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서비스의 성격이 </a:t>
            </a:r>
            <a:r>
              <a:rPr lang="ko-KR" altLang="en-US" sz="1100" b="1" dirty="0" err="1">
                <a:solidFill>
                  <a:srgbClr val="3F73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명확해졌다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14">
            <a:extLst>
              <a:ext uri="{FF2B5EF4-FFF2-40B4-BE49-F238E27FC236}">
                <a16:creationId xmlns:a16="http://schemas.microsoft.com/office/drawing/2014/main" id="{D063D455-9ABB-996F-A068-CF540DFCA32C}"/>
              </a:ext>
            </a:extLst>
          </p:cNvPr>
          <p:cNvSpPr/>
          <p:nvPr/>
        </p:nvSpPr>
        <p:spPr>
          <a:xfrm>
            <a:off x="5401720" y="2311699"/>
            <a:ext cx="2186608" cy="603504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7F65694B-0DE0-9C02-B063-38C1DBDAC19D}"/>
              </a:ext>
            </a:extLst>
          </p:cNvPr>
          <p:cNvSpPr/>
          <p:nvPr/>
        </p:nvSpPr>
        <p:spPr>
          <a:xfrm>
            <a:off x="5401720" y="2988354"/>
            <a:ext cx="2186608" cy="603504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901A67B9-A6DC-1C39-21B4-93A4CCDFAF14}"/>
              </a:ext>
            </a:extLst>
          </p:cNvPr>
          <p:cNvSpPr/>
          <p:nvPr/>
        </p:nvSpPr>
        <p:spPr>
          <a:xfrm>
            <a:off x="5401720" y="3666168"/>
            <a:ext cx="2186608" cy="603504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1" name="Shape 14">
            <a:extLst>
              <a:ext uri="{FF2B5EF4-FFF2-40B4-BE49-F238E27FC236}">
                <a16:creationId xmlns:a16="http://schemas.microsoft.com/office/drawing/2014/main" id="{92B9E116-75EB-3D87-6E64-F0089BC3B006}"/>
              </a:ext>
            </a:extLst>
          </p:cNvPr>
          <p:cNvSpPr/>
          <p:nvPr/>
        </p:nvSpPr>
        <p:spPr>
          <a:xfrm>
            <a:off x="5401720" y="4342823"/>
            <a:ext cx="2186608" cy="603504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D3007E44-2514-B605-B19D-D1A3FAB3BC7F}"/>
              </a:ext>
            </a:extLst>
          </p:cNvPr>
          <p:cNvSpPr/>
          <p:nvPr/>
        </p:nvSpPr>
        <p:spPr>
          <a:xfrm>
            <a:off x="8632468" y="2311698"/>
            <a:ext cx="2822712" cy="603504"/>
          </a:xfrm>
          <a:prstGeom prst="rect">
            <a:avLst/>
          </a:prstGeom>
          <a:solidFill>
            <a:srgbClr val="E9F0E2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658368" y="320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F73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NEWSCRAP  /  BUILD NOTES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321040" y="320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</a:t>
            </a:r>
            <a:r>
              <a:rPr lang="ko-KR" altLang="en-US" sz="9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현실적 제약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58368" y="667512"/>
            <a:ext cx="10881360" cy="0"/>
          </a:xfrm>
          <a:prstGeom prst="line">
            <a:avLst/>
          </a:prstGeom>
          <a:noFill/>
          <a:ln w="10160">
            <a:solidFill>
              <a:srgbClr val="D9DD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13232" y="896112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</a:t>
            </a:r>
            <a:r>
              <a:rPr lang="ko-KR" altLang="en-US" sz="28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</a:t>
            </a:r>
            <a:r>
              <a:rPr lang="en-US" sz="28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넣고 딸깍하면 끝? 그런데…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</a:rPr>
              <a:t>언론사의 저작권과 </a:t>
            </a:r>
            <a:r>
              <a:rPr lang="en-US" altLang="ko-KR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</a:rPr>
              <a:t>AI </a:t>
            </a:r>
            <a:r>
              <a:rPr lang="ko-KR" alt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</a:rPr>
              <a:t>이용조건이라는 현실적 제약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10160">
            <a:solidFill>
              <a:srgbClr val="D9DD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76656" y="653796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신문, 더 넓은 시선으로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058400" y="65105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F73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/  07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80608" y="2311699"/>
            <a:ext cx="4407408" cy="2634627"/>
          </a:xfrm>
          <a:prstGeom prst="rect">
            <a:avLst/>
          </a:prstGeom>
          <a:solidFill>
            <a:srgbClr val="F3E7DF"/>
          </a:solidFill>
          <a:ln w="12700">
            <a:solidFill>
              <a:srgbClr val="E7D4C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Text 15"/>
          <p:cNvSpPr/>
          <p:nvPr/>
        </p:nvSpPr>
        <p:spPr>
          <a:xfrm>
            <a:off x="1154928" y="26388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A96D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고비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4928" y="3096020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저작권 문제로 </a:t>
            </a:r>
            <a:r>
              <a:rPr lang="en-US" sz="2000" b="1" dirty="0" err="1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</a:t>
            </a:r>
            <a:r>
              <a:rPr lang="en-US" sz="20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원문과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사진을 그대로 쓰기 어려움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54928" y="4247887"/>
            <a:ext cx="3703320" cy="3494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매일경제 이용조건 상</a:t>
            </a:r>
            <a:r>
              <a:rPr lang="en-US" altLang="ko-KR" sz="12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</a:p>
          <a:p>
            <a:pPr marL="0" indent="0">
              <a:buNone/>
            </a:pPr>
            <a:r>
              <a:rPr lang="ko-KR" altLang="en-US" sz="12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</a:t>
            </a:r>
            <a:r>
              <a:rPr lang="en-US" altLang="ko-KR" sz="12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2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활용한 대량 자동 수집이 불가능했다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33972" y="2419424"/>
            <a:ext cx="292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293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지면 자동 수집</a:t>
            </a:r>
            <a:endParaRPr lang="en-US" sz="1400" dirty="0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D5B0729C-1B0F-A98F-D9DD-FAC2A64744D9}"/>
              </a:ext>
            </a:extLst>
          </p:cNvPr>
          <p:cNvSpPr/>
          <p:nvPr/>
        </p:nvSpPr>
        <p:spPr>
          <a:xfrm>
            <a:off x="7842372" y="3281698"/>
            <a:ext cx="502920" cy="502920"/>
          </a:xfrm>
          <a:prstGeom prst="ellipse">
            <a:avLst/>
          </a:prstGeom>
          <a:solidFill>
            <a:srgbClr val="3F735A"/>
          </a:solidFill>
          <a:ln w="12700">
            <a:solidFill>
              <a:srgbClr val="3F73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73C03424-6545-C7F7-C346-CBE705A7CC06}"/>
              </a:ext>
            </a:extLst>
          </p:cNvPr>
          <p:cNvSpPr/>
          <p:nvPr/>
        </p:nvSpPr>
        <p:spPr>
          <a:xfrm>
            <a:off x="7842372" y="343649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1900" dirty="0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84E8D4C1-161B-2D08-368C-08C89E608F2A}"/>
              </a:ext>
            </a:extLst>
          </p:cNvPr>
          <p:cNvSpPr/>
          <p:nvPr/>
        </p:nvSpPr>
        <p:spPr>
          <a:xfrm>
            <a:off x="8632468" y="2988353"/>
            <a:ext cx="2822712" cy="603504"/>
          </a:xfrm>
          <a:prstGeom prst="rect">
            <a:avLst/>
          </a:prstGeom>
          <a:solidFill>
            <a:srgbClr val="E9F0E2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9A607C36-1978-3595-4C7B-6971E18CC331}"/>
              </a:ext>
            </a:extLst>
          </p:cNvPr>
          <p:cNvSpPr/>
          <p:nvPr/>
        </p:nvSpPr>
        <p:spPr>
          <a:xfrm>
            <a:off x="8632468" y="3666167"/>
            <a:ext cx="2822712" cy="603504"/>
          </a:xfrm>
          <a:prstGeom prst="rect">
            <a:avLst/>
          </a:prstGeom>
          <a:solidFill>
            <a:srgbClr val="E9F0E2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026C1F3B-83E9-A38F-3538-837C901EE88A}"/>
              </a:ext>
            </a:extLst>
          </p:cNvPr>
          <p:cNvSpPr/>
          <p:nvPr/>
        </p:nvSpPr>
        <p:spPr>
          <a:xfrm>
            <a:off x="8632468" y="4342822"/>
            <a:ext cx="2822712" cy="603504"/>
          </a:xfrm>
          <a:prstGeom prst="rect">
            <a:avLst/>
          </a:prstGeom>
          <a:solidFill>
            <a:srgbClr val="E9F0E2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EA84B69E-6231-E1AB-F088-145733B8B07C}"/>
              </a:ext>
            </a:extLst>
          </p:cNvPr>
          <p:cNvSpPr/>
          <p:nvPr/>
        </p:nvSpPr>
        <p:spPr>
          <a:xfrm>
            <a:off x="5033972" y="3086461"/>
            <a:ext cx="292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b="1">
                <a:solidFill>
                  <a:srgbClr val="293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전문 제공</a:t>
            </a:r>
            <a:endParaRPr lang="en-US" sz="1400" dirty="0"/>
          </a:p>
        </p:txBody>
      </p:sp>
      <p:sp>
        <p:nvSpPr>
          <p:cNvPr id="55" name="Text 20">
            <a:extLst>
              <a:ext uri="{FF2B5EF4-FFF2-40B4-BE49-F238E27FC236}">
                <a16:creationId xmlns:a16="http://schemas.microsoft.com/office/drawing/2014/main" id="{94B11E70-DCEC-D8E4-8229-627721AD1444}"/>
              </a:ext>
            </a:extLst>
          </p:cNvPr>
          <p:cNvSpPr/>
          <p:nvPr/>
        </p:nvSpPr>
        <p:spPr>
          <a:xfrm>
            <a:off x="5033972" y="3769114"/>
            <a:ext cx="292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b="1">
                <a:solidFill>
                  <a:srgbClr val="293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이미지 활용</a:t>
            </a:r>
            <a:endParaRPr lang="en-US" sz="1400" dirty="0"/>
          </a:p>
        </p:txBody>
      </p:sp>
      <p:sp>
        <p:nvSpPr>
          <p:cNvPr id="57" name="Text 20">
            <a:extLst>
              <a:ext uri="{FF2B5EF4-FFF2-40B4-BE49-F238E27FC236}">
                <a16:creationId xmlns:a16="http://schemas.microsoft.com/office/drawing/2014/main" id="{EC5AC4DD-A73E-0858-D86D-D9B9D438A909}"/>
              </a:ext>
            </a:extLst>
          </p:cNvPr>
          <p:cNvSpPr/>
          <p:nvPr/>
        </p:nvSpPr>
        <p:spPr>
          <a:xfrm>
            <a:off x="5033972" y="4444400"/>
            <a:ext cx="292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293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날짜 업데이트</a:t>
            </a:r>
            <a:endParaRPr lang="en-US" sz="1400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9F348A74-F00D-74CD-F4EF-300E76DD2D09}"/>
              </a:ext>
            </a:extLst>
          </p:cNvPr>
          <p:cNvSpPr/>
          <p:nvPr/>
        </p:nvSpPr>
        <p:spPr>
          <a:xfrm>
            <a:off x="8599336" y="2400020"/>
            <a:ext cx="292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293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</a:t>
            </a:r>
            <a:r>
              <a:rPr lang="en-US" altLang="ko-KR" sz="1400" b="1" dirty="0">
                <a:solidFill>
                  <a:srgbClr val="293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r>
              <a:rPr lang="ko-KR" altLang="en-US" sz="1400" b="1" dirty="0">
                <a:solidFill>
                  <a:srgbClr val="293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개만 선별</a:t>
            </a:r>
            <a:endParaRPr lang="en-US" sz="1400" dirty="0"/>
          </a:p>
        </p:txBody>
      </p:sp>
      <p:sp>
        <p:nvSpPr>
          <p:cNvPr id="61" name="Text 20">
            <a:extLst>
              <a:ext uri="{FF2B5EF4-FFF2-40B4-BE49-F238E27FC236}">
                <a16:creationId xmlns:a16="http://schemas.microsoft.com/office/drawing/2014/main" id="{4031EFE8-B6A1-5B17-8FA4-AAB47061AE6C}"/>
              </a:ext>
            </a:extLst>
          </p:cNvPr>
          <p:cNvSpPr/>
          <p:nvPr/>
        </p:nvSpPr>
        <p:spPr>
          <a:xfrm>
            <a:off x="8599336" y="3067057"/>
            <a:ext cx="292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293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링크 제공</a:t>
            </a:r>
            <a:endParaRPr lang="en-US" sz="1400" dirty="0"/>
          </a:p>
        </p:txBody>
      </p:sp>
      <p:sp>
        <p:nvSpPr>
          <p:cNvPr id="63" name="Text 20">
            <a:extLst>
              <a:ext uri="{FF2B5EF4-FFF2-40B4-BE49-F238E27FC236}">
                <a16:creationId xmlns:a16="http://schemas.microsoft.com/office/drawing/2014/main" id="{76BB50B2-4316-3C36-11AB-345BDA7C4DD9}"/>
              </a:ext>
            </a:extLst>
          </p:cNvPr>
          <p:cNvSpPr/>
          <p:nvPr/>
        </p:nvSpPr>
        <p:spPr>
          <a:xfrm>
            <a:off x="8599336" y="3749710"/>
            <a:ext cx="292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293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맥락에 맞는 이미지 생성</a:t>
            </a:r>
            <a:endParaRPr lang="en-US" sz="1400" dirty="0"/>
          </a:p>
        </p:txBody>
      </p:sp>
      <p:sp>
        <p:nvSpPr>
          <p:cNvPr id="65" name="Text 20">
            <a:extLst>
              <a:ext uri="{FF2B5EF4-FFF2-40B4-BE49-F238E27FC236}">
                <a16:creationId xmlns:a16="http://schemas.microsoft.com/office/drawing/2014/main" id="{0BADB5B2-1827-C82D-CDE6-2CE86FD784A9}"/>
              </a:ext>
            </a:extLst>
          </p:cNvPr>
          <p:cNvSpPr/>
          <p:nvPr/>
        </p:nvSpPr>
        <p:spPr>
          <a:xfrm>
            <a:off x="8599336" y="4424996"/>
            <a:ext cx="292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400" b="1" dirty="0">
                <a:solidFill>
                  <a:srgbClr val="293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9.21. – 9.23. 3</a:t>
            </a:r>
            <a:r>
              <a:rPr lang="ko-KR" altLang="en-US" sz="1400" b="1" dirty="0">
                <a:solidFill>
                  <a:srgbClr val="293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일치만 우선 구현</a:t>
            </a:r>
            <a:endParaRPr lang="en-US" sz="1400" dirty="0"/>
          </a:p>
        </p:txBody>
      </p:sp>
      <p:sp>
        <p:nvSpPr>
          <p:cNvPr id="68" name="Text 20">
            <a:extLst>
              <a:ext uri="{FF2B5EF4-FFF2-40B4-BE49-F238E27FC236}">
                <a16:creationId xmlns:a16="http://schemas.microsoft.com/office/drawing/2014/main" id="{B9D97028-2D60-BAE5-6310-14C277DC0208}"/>
              </a:ext>
            </a:extLst>
          </p:cNvPr>
          <p:cNvSpPr/>
          <p:nvPr/>
        </p:nvSpPr>
        <p:spPr>
          <a:xfrm>
            <a:off x="822960" y="545658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범위 내에서 서비스의 핵심 경험을 최대한 보존하려고 했다</a:t>
            </a:r>
            <a:r>
              <a:rPr lang="en-US" altLang="ko-KR" sz="16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ko-KR" altLang="en-US" sz="16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3F73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NEWSCRAP  /  BUILD NOTES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321040" y="320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연결에 성공하다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58368" y="667512"/>
            <a:ext cx="10881360" cy="0"/>
          </a:xfrm>
          <a:prstGeom prst="line">
            <a:avLst/>
          </a:prstGeom>
          <a:noFill/>
          <a:ln w="10160">
            <a:solidFill>
              <a:srgbClr val="D9DD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13232" y="896112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스터디에서 </a:t>
            </a:r>
            <a:r>
              <a:rPr lang="en-US" sz="2800" b="1" dirty="0" err="1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</a:t>
            </a:r>
            <a:r>
              <a:rPr lang="en-US" sz="28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 err="1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r>
              <a:rPr lang="ko-KR" altLang="en-US" sz="28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더해</a:t>
            </a:r>
            <a:r>
              <a:rPr lang="en-US" sz="28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Gemini </a:t>
            </a:r>
            <a:r>
              <a:rPr lang="en-US" sz="2800" b="1" dirty="0" err="1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API까지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사용자별 </a:t>
            </a:r>
            <a:r>
              <a:rPr lang="en-US" sz="1300" dirty="0" err="1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r>
              <a:rPr 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</a:t>
            </a:r>
            <a:r>
              <a:rPr 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</a:t>
            </a:r>
            <a:r>
              <a:rPr lang="en-US" altLang="ko-KR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r>
              <a:rPr lang="en-US" sz="1300" dirty="0" err="1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</a:t>
            </a:r>
            <a:r>
              <a:rPr 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폴더의</a:t>
            </a:r>
            <a:r>
              <a:rPr 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</a:t>
            </a:r>
            <a:r>
              <a:rPr lang="en-US" sz="1300" dirty="0" err="1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</a:t>
            </a:r>
            <a:r>
              <a:rPr lang="en-US" sz="13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요약을 실제로 연결했다.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10160">
            <a:solidFill>
              <a:srgbClr val="D9DD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76656" y="653796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신문, 더 넓은 시선으로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058400" y="65105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F73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/  07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6384" y="2267712"/>
            <a:ext cx="312724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69264" y="24688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D493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9264" y="2788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회원가입·로그인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9264" y="32461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Auth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50792" y="27614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F73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462272" y="2267712"/>
            <a:ext cx="312724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45152" y="24688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D493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45152" y="2788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기사 저장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45152" y="32461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사용자별 스크랩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26680" y="27614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F73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8138160" y="2267712"/>
            <a:ext cx="3127248" cy="1389888"/>
          </a:xfrm>
          <a:prstGeom prst="rect">
            <a:avLst/>
          </a:prstGeom>
          <a:solidFill>
            <a:srgbClr val="E8EEE9"/>
          </a:solidFill>
          <a:ln w="12700">
            <a:solidFill>
              <a:srgbClr val="D9DD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321040" y="24688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D493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21040" y="2788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5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흐름 요약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21040" y="32461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6384" y="4169664"/>
            <a:ext cx="10479024" cy="1051560"/>
          </a:xfrm>
          <a:prstGeom prst="rect">
            <a:avLst/>
          </a:prstGeom>
          <a:solidFill>
            <a:srgbClr val="293A34"/>
          </a:solidFill>
          <a:ln w="12700">
            <a:solidFill>
              <a:srgbClr val="293A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51560" y="455288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폴더별 흐름 요약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456432" y="457117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E2E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프로토타입에서는 </a:t>
            </a:r>
            <a:r>
              <a:rPr lang="en-US" sz="1200" dirty="0" err="1">
                <a:solidFill>
                  <a:srgbClr val="E2E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</a:t>
            </a:r>
            <a:r>
              <a:rPr lang="en-US" sz="1200" dirty="0">
                <a:solidFill>
                  <a:srgbClr val="E2E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챗봇 대신, 폴더 상단에서 읽기만 하는 요약으로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89720" y="4459363"/>
            <a:ext cx="1737360" cy="438912"/>
          </a:xfrm>
          <a:prstGeom prst="rect">
            <a:avLst/>
          </a:prstGeom>
          <a:solidFill>
            <a:srgbClr val="D49373"/>
          </a:solidFill>
          <a:ln w="12700">
            <a:solidFill>
              <a:srgbClr val="D493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9189720" y="4569091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1회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559612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사용량을 고려해 호출은 폴더당 하루 한 번으로 제한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3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D7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NEWSCRAP  /  NEXT CHAPTER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13232" y="804672"/>
            <a:ext cx="10771632" cy="0"/>
          </a:xfrm>
          <a:prstGeom prst="line">
            <a:avLst/>
          </a:prstGeom>
          <a:noFill/>
          <a:ln w="10160">
            <a:solidFill>
              <a:srgbClr val="8291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8096" y="117043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나중에 더 발전시킨</a:t>
            </a:r>
            <a:r>
              <a:rPr lang="en-US" sz="25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다면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04672" y="2120578"/>
            <a:ext cx="69037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E7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</a:t>
            </a:r>
            <a:r>
              <a:rPr lang="en-US" sz="2100" b="1" dirty="0" err="1">
                <a:solidFill>
                  <a:srgbClr val="E7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</a:t>
            </a:r>
            <a:r>
              <a:rPr lang="en-US" sz="2100" b="1" dirty="0">
                <a:solidFill>
                  <a:srgbClr val="E7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100" b="1" dirty="0" err="1">
                <a:solidFill>
                  <a:srgbClr val="E7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신문</a:t>
            </a:r>
            <a:r>
              <a:rPr lang="ko-KR" altLang="en-US" sz="2100" b="1" dirty="0">
                <a:solidFill>
                  <a:srgbClr val="E7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 서비스 제공</a:t>
            </a:r>
            <a:r>
              <a:rPr lang="en-US" altLang="ko-KR" sz="2100" b="1" dirty="0">
                <a:solidFill>
                  <a:srgbClr val="E7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E7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허가된 범위에서 </a:t>
            </a:r>
            <a:r>
              <a:rPr lang="en-US" sz="2100" b="1" dirty="0" err="1">
                <a:solidFill>
                  <a:srgbClr val="E7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원문과</a:t>
            </a:r>
            <a:r>
              <a:rPr lang="en-US" sz="2100" b="1" dirty="0">
                <a:solidFill>
                  <a:srgbClr val="E7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</a:t>
            </a:r>
            <a:r>
              <a:rPr lang="ko-KR" altLang="en-US" sz="2100" b="1" dirty="0">
                <a:solidFill>
                  <a:srgbClr val="E7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</a:t>
            </a:r>
            <a:r>
              <a:rPr lang="en-US" sz="2100" b="1" dirty="0">
                <a:solidFill>
                  <a:srgbClr val="E7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100" b="1" dirty="0" err="1">
                <a:solidFill>
                  <a:srgbClr val="E7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r>
              <a:rPr lang="en-US" sz="2100" b="1" dirty="0">
                <a:solidFill>
                  <a:srgbClr val="E7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100" b="1" dirty="0" err="1">
                <a:solidFill>
                  <a:srgbClr val="E7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</a:t>
            </a:r>
            <a:r>
              <a:rPr lang="en-US" sz="2100" b="1" dirty="0">
                <a:solidFill>
                  <a:srgbClr val="E7EC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</a:p>
          <a:p>
            <a:pPr marL="0" indent="0">
              <a:buNone/>
            </a:pPr>
            <a:r>
              <a:rPr lang="ko-KR" altLang="en-US" sz="2100" b="1" dirty="0">
                <a:solidFill>
                  <a:srgbClr val="E7ECE6"/>
                </a:solidFill>
                <a:latin typeface="Malgun Gothic" pitchFamily="34" charset="0"/>
                <a:ea typeface="Malgun Gothic" pitchFamily="34" charset="-122"/>
              </a:rPr>
              <a:t>나아가 더 강화된 </a:t>
            </a:r>
            <a:r>
              <a:rPr lang="en-US" altLang="ko-KR" sz="2100" b="1" dirty="0">
                <a:solidFill>
                  <a:srgbClr val="E7ECE6"/>
                </a:solidFill>
                <a:latin typeface="Malgun Gothic" pitchFamily="34" charset="0"/>
                <a:ea typeface="Malgun Gothic" pitchFamily="34" charset="-122"/>
              </a:rPr>
              <a:t>AI </a:t>
            </a:r>
            <a:r>
              <a:rPr lang="ko-KR" altLang="en-US" sz="2100" b="1" dirty="0" err="1">
                <a:solidFill>
                  <a:srgbClr val="E7ECE6"/>
                </a:solidFill>
                <a:latin typeface="Malgun Gothic" pitchFamily="34" charset="0"/>
                <a:ea typeface="Malgun Gothic" pitchFamily="34" charset="-122"/>
              </a:rPr>
              <a:t>챗봇</a:t>
            </a:r>
            <a:r>
              <a:rPr lang="ko-KR" altLang="en-US" sz="2100" b="1" dirty="0">
                <a:solidFill>
                  <a:srgbClr val="E7ECE6"/>
                </a:solidFill>
                <a:latin typeface="Malgun Gothic" pitchFamily="34" charset="0"/>
                <a:ea typeface="Malgun Gothic" pitchFamily="34" charset="-122"/>
              </a:rPr>
              <a:t> 기능까지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04672" y="3703320"/>
            <a:ext cx="640080" cy="73152"/>
          </a:xfrm>
          <a:prstGeom prst="rect">
            <a:avLst/>
          </a:prstGeom>
          <a:solidFill>
            <a:srgbClr val="D49373"/>
          </a:solidFill>
          <a:ln w="12700">
            <a:solidFill>
              <a:srgbClr val="D493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04672" y="4096512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신문사와 제휴를 맺은 정식 구독 서비스로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68096" y="61081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D7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— 07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60036" y="6106945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12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6478316-1E60-F921-AF91-AD6D4040D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180" y="1028453"/>
            <a:ext cx="4061112" cy="310172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05F8B8A-E91F-0092-E5A4-7EF1AF8966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522" y="2907887"/>
            <a:ext cx="4443660" cy="33939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440</Words>
  <Application>Microsoft Office PowerPoint</Application>
  <PresentationFormat>와이드스크린</PresentationFormat>
  <Paragraphs>103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Newscrap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신문 숙제 밀리다가, 서비스까지 만들게 됐습니다</dc:title>
  <dc:subject>Newscrap을 만들며 겪은 아이디어 구체화와 바이브코딩 경험</dc:subject>
  <dc:creator>Newscrap</dc:creator>
  <cp:lastModifiedBy>김연수[ 학부재학 / 국제학부 ]</cp:lastModifiedBy>
  <cp:revision>3</cp:revision>
  <dcterms:created xsi:type="dcterms:W3CDTF">2026-09-27T18:42:16Z</dcterms:created>
  <dcterms:modified xsi:type="dcterms:W3CDTF">2026-09-28T06:48:26Z</dcterms:modified>
</cp:coreProperties>
</file>